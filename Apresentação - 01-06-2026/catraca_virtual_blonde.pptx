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O8Gj5OnKwlTgix1/UfKTjR6YI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4AB92E-73FF-4A4B-BF1D-1FBA039DB18C}">
  <a:tblStyle styleId="{3C4AB92E-73FF-4A4B-BF1D-1FBA039DB18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de capa. Rosy apresenta a equipe e contextualiza o projeto para a disciplina de Banco de Dados II.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a startup: missão, visão, valores e origem do projeto.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Contextualizar o problema motivador. Falar sobre a realidade do transporte em Londrina e por que soluções digitais são necessárias.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sistema e os três perfis de usuário.</a:t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os objetivos acadêmicos e as tecnologias escolhidas.</a:t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PRD como o documento base que estruturou o projeto antes de qualquer código.</a:t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os 10 requisitos funcionais do PRD, cobrindo todo o ciclo do sistema.</a:t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que foi planejado e o que foi conscientemente excluído. Mostrar o MVP definido.</a:t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as 2 tabelas definidas no PRD e preparar o terreno para a evolução que Dorival apresentará.</a:t>
            </a:r>
            <a:endParaRPr/>
          </a:p>
        </p:txBody>
      </p:sp>
      <p:sp>
        <p:nvSpPr>
          <p:cNvPr id="234" name="Google Shape;2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evolução do modelo de dados, do PRD ao sistema final.</a:t>
            </a:r>
            <a:endParaRPr/>
          </a:p>
        </p:txBody>
      </p:sp>
      <p:sp>
        <p:nvSpPr>
          <p:cNvPr id="256" name="Google Shape;2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cada entidade do banco de dados final com sua responsabilidade.</a:t>
            </a:r>
            <a:endParaRPr/>
          </a:p>
        </p:txBody>
      </p:sp>
      <p:sp>
        <p:nvSpPr>
          <p:cNvPr id="266" name="Google Shape;2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os relacionamentos entre entidades e a política de exclusão em cascata.</a:t>
            </a:r>
            <a:endParaRPr/>
          </a:p>
        </p:txBody>
      </p:sp>
      <p:sp>
        <p:nvSpPr>
          <p:cNvPr id="301" name="Google Shape;30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a escolha do SQLite e como a migração automática funciona.</a:t>
            </a:r>
            <a:endParaRPr/>
          </a:p>
        </p:txBody>
      </p:sp>
      <p:sp>
        <p:nvSpPr>
          <p:cNvPr id="314" name="Google Shape;31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a estrutura do projeto Flask e a separação de responsabilidades.</a:t>
            </a:r>
            <a:endParaRPr/>
          </a:p>
        </p:txBody>
      </p:sp>
      <p:sp>
        <p:nvSpPr>
          <p:cNvPr id="338" name="Google Shape;33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as principais rotas e seus propósitos.</a:t>
            </a:r>
            <a:endParaRPr/>
          </a:p>
        </p:txBody>
      </p:sp>
      <p:sp>
        <p:nvSpPr>
          <p:cNvPr id="367" name="Google Shape;36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fluxo de validação passo a passo, que é o coração do sistema.</a:t>
            </a:r>
            <a:endParaRPr/>
          </a:p>
        </p:txBody>
      </p:sp>
      <p:sp>
        <p:nvSpPr>
          <p:cNvPr id="377" name="Google Shape;37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os 6 parâmetros que o administrador controla em tempo real.</a:t>
            </a:r>
            <a:endParaRPr/>
          </a:p>
        </p:txBody>
      </p:sp>
      <p:sp>
        <p:nvSpPr>
          <p:cNvPr id="411" name="Google Shape;41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Comparar o que foi planejado no PRD com o que foi efetivamente entregue.</a:t>
            </a:r>
            <a:endParaRPr/>
          </a:p>
        </p:txBody>
      </p:sp>
      <p:sp>
        <p:nvSpPr>
          <p:cNvPr id="455" name="Google Shape;45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roteiro da demo. Cada passo valida uma funcionalidade diferente.</a:t>
            </a:r>
            <a:endParaRPr/>
          </a:p>
        </p:txBody>
      </p:sp>
      <p:sp>
        <p:nvSpPr>
          <p:cNvPr id="464" name="Google Shape;46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Reflexões da equipe sobre o processo de desenvolvimento.</a:t>
            </a:r>
            <a:endParaRPr/>
          </a:p>
        </p:txBody>
      </p:sp>
      <p:sp>
        <p:nvSpPr>
          <p:cNvPr id="510" name="Google Shape;51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Encerrar agradecendo e abrindo para perguntas. Cada integrante pode responder perguntas sobre sua respectiva parte.</a:t>
            </a:r>
            <a:endParaRPr/>
          </a:p>
        </p:txBody>
      </p:sp>
      <p:sp>
        <p:nvSpPr>
          <p:cNvPr id="528" name="Google Shape;52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y2KP5oVYs-1bOKfKrxsnp2T3CZL2hZ5X/view" TargetMode="External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hyperlink" Target="https://github.com/wicz-ui/Blon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wqs_-j1nRo_4JLHw6k9ToL6CHDNTPgd_/view" TargetMode="External"/><Relationship Id="rId5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y2KP5oVYs-1bOKfKrxsnp2T3CZL2hZ5X/view" TargetMode="External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4760" y="1138398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57200" y="273859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BLONDE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195798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Catraca Virtual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4064478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Sistema Web de Gestão de Cartões de Transporte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2926080" y="4521678"/>
            <a:ext cx="3291900" cy="0"/>
          </a:xfrm>
          <a:prstGeom prst="straightConnector1">
            <a:avLst/>
          </a:prstGeom>
          <a:noFill/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457200" y="4576542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Banco de Dados II  •  Junho de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942302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Rosimari Silva de Souza (Rosy Loira)  •  Abner Ferreira Repelevicz  •  Dorival Pereira da Silva Junior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Edson Hiromiti Hara  •  Matheus Becari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-808975" y="4908630"/>
            <a:ext cx="917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1" title="Brand_Video(1)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5125" y="762025"/>
            <a:ext cx="2433799" cy="24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5563" cy="41639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791985" y="128123"/>
            <a:ext cx="8134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1  • 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74320" y="1485277"/>
            <a:ext cx="868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29"/>
              <a:buFont typeface="Arial"/>
              <a:buNone/>
            </a:pPr>
            <a:r>
              <a:rPr b="1" i="0" lang="en-US" sz="27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Sobre a BLONDE</a:t>
            </a:r>
            <a:endParaRPr b="0" i="0" sz="27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2271611"/>
            <a:ext cx="1939302" cy="194268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2446663" y="2253109"/>
            <a:ext cx="64707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175" lIns="92400" spcFirstLastPara="1" rIns="92400" wrap="square" tIns="46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14"/>
              <a:buFont typeface="Arial"/>
              <a:buNone/>
            </a:pPr>
            <a:r>
              <a:rPr b="0" i="0" lang="en-US" sz="1314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Startup acadêmica com foco em soluções tecnológicas para serviços públicos. Fundada por estudantes motivados a impactar o dia a dia das pessoas.</a:t>
            </a:r>
            <a:endParaRPr b="0" i="0" sz="13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446663" y="2974686"/>
            <a:ext cx="3189600" cy="1121400"/>
          </a:xfrm>
          <a:prstGeom prst="roundRect">
            <a:avLst>
              <a:gd fmla="val 6557" name="adj"/>
            </a:avLst>
          </a:prstGeom>
          <a:solidFill>
            <a:srgbClr val="090909"/>
          </a:solidFill>
          <a:ln cap="flat" cmpd="sng" w="128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2682" rotWithShape="0" algn="bl" dir="2700000" dist="38506">
              <a:srgbClr val="000000">
                <a:alpha val="12941"/>
              </a:srgbClr>
            </a:outerShdw>
          </a:effectLst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2576080" y="3067196"/>
            <a:ext cx="29118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13"/>
              <a:buFont typeface="Arial"/>
              <a:buNone/>
            </a:pPr>
            <a:r>
              <a:rPr b="1" i="0" lang="en-US" sz="1213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Missão</a:t>
            </a:r>
            <a:endParaRPr b="0" i="0" sz="1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576080" y="3344726"/>
            <a:ext cx="29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175" lIns="92400" spcFirstLastPara="1" rIns="92400" wrap="square" tIns="46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Arial"/>
              <a:buNone/>
            </a:pPr>
            <a:r>
              <a:rPr b="0" i="0" lang="en-US" sz="121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Integrar tecnologia ao transporte e serviços públicos do cotidiano</a:t>
            </a:r>
            <a:endParaRPr b="0" i="0" sz="1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869324" y="2990633"/>
            <a:ext cx="3189600" cy="1121400"/>
          </a:xfrm>
          <a:prstGeom prst="roundRect">
            <a:avLst>
              <a:gd fmla="val 6557" name="adj"/>
            </a:avLst>
          </a:prstGeom>
          <a:solidFill>
            <a:srgbClr val="090909"/>
          </a:solidFill>
          <a:ln cap="flat" cmpd="sng" w="128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2682" rotWithShape="0" algn="bl" dir="2700000" dist="38506">
              <a:srgbClr val="000000">
                <a:alpha val="12941"/>
              </a:srgbClr>
            </a:outerShdw>
          </a:effectLst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005840" y="3091543"/>
            <a:ext cx="29118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13"/>
              <a:buFont typeface="Arial"/>
              <a:buNone/>
            </a:pPr>
            <a:r>
              <a:rPr b="1" i="0" lang="en-US" sz="1213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Visão</a:t>
            </a:r>
            <a:endParaRPr b="0" i="0" sz="1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005840" y="3369072"/>
            <a:ext cx="29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175" lIns="92400" spcFirstLastPara="1" rIns="92400" wrap="square" tIns="46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Arial"/>
              <a:buNone/>
            </a:pPr>
            <a:r>
              <a:rPr b="0" i="0" lang="en-US" sz="121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 referência em soluções para cidades inteligentes</a:t>
            </a:r>
            <a:endParaRPr b="0" i="0" sz="1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446663" y="4251323"/>
            <a:ext cx="3189600" cy="1121400"/>
          </a:xfrm>
          <a:prstGeom prst="roundRect">
            <a:avLst>
              <a:gd fmla="val 6557" name="adj"/>
            </a:avLst>
          </a:prstGeom>
          <a:solidFill>
            <a:srgbClr val="090909"/>
          </a:solidFill>
          <a:ln cap="flat" cmpd="sng" w="128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2682" rotWithShape="0" algn="bl" dir="2700000" dist="38506">
              <a:srgbClr val="000000">
                <a:alpha val="12941"/>
              </a:srgbClr>
            </a:outerShdw>
          </a:effectLst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576080" y="4343833"/>
            <a:ext cx="29118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13"/>
              <a:buFont typeface="Arial"/>
              <a:buNone/>
            </a:pPr>
            <a:r>
              <a:rPr b="1" i="0" lang="en-US" sz="1213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 b="0" i="0" sz="1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576080" y="4621362"/>
            <a:ext cx="29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175" lIns="92400" spcFirstLastPara="1" rIns="92400" wrap="square" tIns="46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Arial"/>
              <a:buNone/>
            </a:pPr>
            <a:r>
              <a:rPr b="0" i="0" lang="en-US" sz="121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Eficiência, inovação e impacto social real</a:t>
            </a:r>
            <a:endParaRPr b="0" i="0" sz="1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869324" y="4267269"/>
            <a:ext cx="3189600" cy="1121400"/>
          </a:xfrm>
          <a:prstGeom prst="roundRect">
            <a:avLst>
              <a:gd fmla="val 6557" name="adj"/>
            </a:avLst>
          </a:prstGeom>
          <a:solidFill>
            <a:srgbClr val="090909"/>
          </a:solidFill>
          <a:ln cap="flat" cmpd="sng" w="128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2682" rotWithShape="0" algn="bl" dir="2700000" dist="38506">
              <a:srgbClr val="000000">
                <a:alpha val="12941"/>
              </a:srgbClr>
            </a:outerShdw>
          </a:effectLst>
        </p:spPr>
        <p:txBody>
          <a:bodyPr anchorCtr="0" anchor="ctr" bIns="92400" lIns="92400" spcFirstLastPara="1" rIns="92400" wrap="square" tIns="9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005840" y="4368179"/>
            <a:ext cx="29118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13"/>
              <a:buFont typeface="Arial"/>
              <a:buNone/>
            </a:pPr>
            <a:r>
              <a:rPr b="1" i="0" lang="en-US" sz="1213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Origem</a:t>
            </a:r>
            <a:endParaRPr b="0" i="0" sz="1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005840" y="4645709"/>
            <a:ext cx="29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175" lIns="92400" spcFirstLastPara="1" rIns="92400" wrap="square" tIns="46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3"/>
              <a:buFont typeface="Arial"/>
              <a:buNone/>
            </a:pPr>
            <a:r>
              <a:rPr b="0" i="0" lang="en-US" sz="121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Demanda real do transporte coletivo de Londrina-PR</a:t>
            </a:r>
            <a:endParaRPr b="0" i="0" sz="12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786384" y="128016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1  •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74320" y="1289304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Problema: Transporte Público Local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65760" y="2112264"/>
            <a:ext cx="2743200" cy="3456300"/>
          </a:xfrm>
          <a:prstGeom prst="roundRect">
            <a:avLst>
              <a:gd fmla="val 3333" name="adj"/>
            </a:avLst>
          </a:prstGeom>
          <a:solidFill>
            <a:srgbClr val="1E1E1E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417320" y="2267712"/>
            <a:ext cx="640200" cy="6402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417320" y="2267712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75488" y="2999232"/>
            <a:ext cx="2523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Fragilidade Sistêmica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5488" y="3547872"/>
            <a:ext cx="2523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Muitos sistemas de transporte carecem de integração digital e dependem de processos analógicos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291840" y="2112264"/>
            <a:ext cx="2743200" cy="3456300"/>
          </a:xfrm>
          <a:prstGeom prst="roundRect">
            <a:avLst>
              <a:gd fmla="val 3333" name="adj"/>
            </a:avLst>
          </a:prstGeom>
          <a:solidFill>
            <a:srgbClr val="1E1E1E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343400" y="2267712"/>
            <a:ext cx="640200" cy="640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343400" y="2267712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401568" y="2999232"/>
            <a:ext cx="2523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Barreiras de Acesso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401568" y="3547872"/>
            <a:ext cx="2523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Passageiros sem cartão físico não conseguem validar entrada de forma prática e digital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217920" y="2112264"/>
            <a:ext cx="2743200" cy="3456300"/>
          </a:xfrm>
          <a:prstGeom prst="roundRect">
            <a:avLst>
              <a:gd fmla="val 3333" name="adj"/>
            </a:avLst>
          </a:prstGeom>
          <a:solidFill>
            <a:srgbClr val="1E1E1E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7269480" y="2267712"/>
            <a:ext cx="640200" cy="6402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269480" y="2267712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327648" y="2999232"/>
            <a:ext cx="2523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Déficit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327648" y="3547872"/>
            <a:ext cx="25236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Sem registros digitais das passagens, a gestão não consegue agir com base em evidências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786384" y="128016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1  •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74320" y="1289304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Nossa Solução: Visão Geral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74320" y="2048256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Sistema web que simula uma catraca de ônibus: cartões virtuais, validação de entrada em tempo real e gestão completa por múltiplos dispositivos.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74320" y="2660904"/>
            <a:ext cx="2788800" cy="2907900"/>
          </a:xfrm>
          <a:prstGeom prst="roundRect">
            <a:avLst>
              <a:gd fmla="val 3279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274320" y="2660904"/>
            <a:ext cx="2788800" cy="530400"/>
          </a:xfrm>
          <a:prstGeom prst="roundRect">
            <a:avLst>
              <a:gd fmla="val 17241" name="adj"/>
            </a:avLst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274320" y="3026664"/>
            <a:ext cx="2788800" cy="164700"/>
          </a:xfrm>
          <a:prstGeom prst="rect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47472" y="2688336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84048" y="3282696"/>
            <a:ext cx="25695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Cria cartões, configura tarifas, gerencia estações e dispositivos. Controla todo o sistema em tempo real.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227832" y="2660904"/>
            <a:ext cx="2788800" cy="2907900"/>
          </a:xfrm>
          <a:prstGeom prst="roundRect">
            <a:avLst>
              <a:gd fmla="val 3279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227832" y="2660904"/>
            <a:ext cx="2788800" cy="530400"/>
          </a:xfrm>
          <a:prstGeom prst="roundRect">
            <a:avLst>
              <a:gd fmla="val 17241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227832" y="3026664"/>
            <a:ext cx="2788800" cy="1647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3300984" y="2688336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PASSAGEIRO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337560" y="3282696"/>
            <a:ext cx="25695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Consulta saldo, recarrega créditos, planeja rotas de viagem e baixa cartão em PDF com QR Code.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181344" y="2660904"/>
            <a:ext cx="2788800" cy="2907900"/>
          </a:xfrm>
          <a:prstGeom prst="roundRect">
            <a:avLst>
              <a:gd fmla="val 3279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181344" y="2660904"/>
            <a:ext cx="2788800" cy="530400"/>
          </a:xfrm>
          <a:prstGeom prst="roundRect">
            <a:avLst>
              <a:gd fmla="val 17241" name="adj"/>
            </a:avLst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6181344" y="3026664"/>
            <a:ext cx="2788800" cy="164700"/>
          </a:xfrm>
          <a:prstGeom prst="rect">
            <a:avLst/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254496" y="2688336"/>
            <a:ext cx="265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CATRACA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291072" y="3282696"/>
            <a:ext cx="25695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 QR Code ou token, verifica saldo, desconta tarifa e registra a passagem no histórico.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9" name="Google Shape;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786384" y="128016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1  •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74320" y="1229868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 e Stack Tecnológica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74320" y="2007108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Objetivos do Projeto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274320" y="2427732"/>
            <a:ext cx="42063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Aplicar modelagem de BD relacional com integridade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Simular sistema real de transporte público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Implementar regras de negócio complexas no servidor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Desenvolver aplicação multi-dispositivo pela web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Gerar PDF com QR Code e histórico temporário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937760" y="2007108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Stack Tecnológica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937760" y="2427732"/>
            <a:ext cx="3931800" cy="567000"/>
          </a:xfrm>
          <a:prstGeom prst="roundRect">
            <a:avLst>
              <a:gd fmla="val 9677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5047488" y="2628900"/>
            <a:ext cx="164700" cy="1647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5321808" y="2482596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3.10+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321808" y="2720340"/>
            <a:ext cx="342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Linguagem principal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937760" y="3086100"/>
            <a:ext cx="3931800" cy="567000"/>
          </a:xfrm>
          <a:prstGeom prst="roundRect">
            <a:avLst>
              <a:gd fmla="val 9677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5047488" y="3287268"/>
            <a:ext cx="164700" cy="1647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5321808" y="3140964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321808" y="3378708"/>
            <a:ext cx="342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Framework web e roteamento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937760" y="3744468"/>
            <a:ext cx="3931800" cy="567000"/>
          </a:xfrm>
          <a:prstGeom prst="roundRect">
            <a:avLst>
              <a:gd fmla="val 9677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5047488" y="3945636"/>
            <a:ext cx="164700" cy="1647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321808" y="3799332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SQLite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321808" y="4037076"/>
            <a:ext cx="342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Banco de dados relacional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937760" y="4402836"/>
            <a:ext cx="3931800" cy="567000"/>
          </a:xfrm>
          <a:prstGeom prst="roundRect">
            <a:avLst>
              <a:gd fmla="val 9677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047488" y="4604004"/>
            <a:ext cx="164700" cy="1647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321808" y="4457700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/ CSS / 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321808" y="4695444"/>
            <a:ext cx="342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Interface e leitor de QR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937760" y="5061204"/>
            <a:ext cx="3931800" cy="567000"/>
          </a:xfrm>
          <a:prstGeom prst="roundRect">
            <a:avLst>
              <a:gd fmla="val 9677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047488" y="5262372"/>
            <a:ext cx="164700" cy="1647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321808" y="5116068"/>
            <a:ext cx="342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Codespaces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321808" y="5353812"/>
            <a:ext cx="342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Ambiente de execução e deploy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1168"/>
            <a:ext cx="566927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987552" y="237744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BLONDE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14400" y="2468940"/>
            <a:ext cx="7315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— PARTE 2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57200" y="2971860"/>
            <a:ext cx="8229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Projeto Inicial: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PRD &amp; Planejamento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786384" y="128016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2  •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274320" y="1211580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PRD: Documento de Requisitos do Produto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74320" y="1988820"/>
            <a:ext cx="8595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O PRD define o que o sistema deve fazer antes de qualquer linha de código. É o contrato da equipe com o projeto.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74320" y="2583180"/>
            <a:ext cx="2030100" cy="1389900"/>
          </a:xfrm>
          <a:prstGeom prst="roundRect">
            <a:avLst>
              <a:gd fmla="val 6579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47472" y="2628900"/>
            <a:ext cx="1883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47472" y="3332988"/>
            <a:ext cx="188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Seções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documentadas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2487168" y="2583180"/>
            <a:ext cx="2030100" cy="1389900"/>
          </a:xfrm>
          <a:prstGeom prst="roundRect">
            <a:avLst>
              <a:gd fmla="val 6579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2560320" y="2628900"/>
            <a:ext cx="1883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560320" y="3332988"/>
            <a:ext cx="188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funcionais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700016" y="2583180"/>
            <a:ext cx="2030100" cy="1389900"/>
          </a:xfrm>
          <a:prstGeom prst="roundRect">
            <a:avLst>
              <a:gd fmla="val 6579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773168" y="2628900"/>
            <a:ext cx="1883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773168" y="3332988"/>
            <a:ext cx="188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não funcionais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912864" y="2583180"/>
            <a:ext cx="2030100" cy="1389900"/>
          </a:xfrm>
          <a:prstGeom prst="roundRect">
            <a:avLst>
              <a:gd fmla="val 6579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986016" y="2628900"/>
            <a:ext cx="1883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986016" y="3332988"/>
            <a:ext cx="1883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Critérios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de aceite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74320" y="4137660"/>
            <a:ext cx="85953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e descrição geral do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Três perfis de usuário definidos (passageiro, catraca, empresa de ônibus)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Stack tecnológica: Python, Flask, HTML/CSS, SQLite, GitHub Codespaces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Fluxo de demonstração com 12 etapas passo a passo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 claramente definido como entrega mínima funcional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riscos identificados com soluções preventivas planejadas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274320" y="1248156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Requisitos Funcionais (RF01–RF10)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74320" y="2025396"/>
            <a:ext cx="4224600" cy="658500"/>
          </a:xfrm>
          <a:prstGeom prst="roundRect">
            <a:avLst>
              <a:gd fmla="val 8333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393192" y="2263140"/>
            <a:ext cx="183000" cy="1830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93192" y="2080260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RF01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051560" y="208026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Criar Cartão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51560" y="235458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Cadastro de cartão virtual com dados básicos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709160" y="2025396"/>
            <a:ext cx="4224600" cy="658500"/>
          </a:xfrm>
          <a:prstGeom prst="roundRect">
            <a:avLst>
              <a:gd fmla="val 8333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828032" y="2263140"/>
            <a:ext cx="183000" cy="1830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828032" y="2080260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RF02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486400" y="208026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Gerar ID Único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486400" y="235458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Identificador exclusivo por cartão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74320" y="2756916"/>
            <a:ext cx="4224600" cy="658500"/>
          </a:xfrm>
          <a:prstGeom prst="roundRect">
            <a:avLst>
              <a:gd fmla="val 8333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93192" y="2994660"/>
            <a:ext cx="183000" cy="1830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93192" y="2811780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RF03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051560" y="281178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Consultar Cartão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051560" y="308610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Busca pelo ID do cartão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709160" y="2756916"/>
            <a:ext cx="4224600" cy="658500"/>
          </a:xfrm>
          <a:prstGeom prst="roundRect">
            <a:avLst>
              <a:gd fmla="val 8333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828032" y="2994660"/>
            <a:ext cx="183000" cy="1830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828032" y="2811780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RF04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486400" y="281178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Validar Entrada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86400" y="308610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Catraca valida ID e aprova ou nega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74320" y="3488436"/>
            <a:ext cx="4224600" cy="658500"/>
          </a:xfrm>
          <a:prstGeom prst="roundRect">
            <a:avLst>
              <a:gd fmla="val 8333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93192" y="3726180"/>
            <a:ext cx="183000" cy="1830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93192" y="3543300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RF05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51560" y="354330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Aprovar Entrada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051560" y="381762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Cartão ativo com saldo suficiente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709160" y="3488436"/>
            <a:ext cx="4224600" cy="658500"/>
          </a:xfrm>
          <a:prstGeom prst="roundRect">
            <a:avLst>
              <a:gd fmla="val 8333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828032" y="3726180"/>
            <a:ext cx="183000" cy="1830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828032" y="3543300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RF06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486400" y="354330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Negar Entrada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486400" y="381762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Inválido, bloqueado ou sem saldo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74320" y="4219956"/>
            <a:ext cx="4224600" cy="658500"/>
          </a:xfrm>
          <a:prstGeom prst="roundRect">
            <a:avLst>
              <a:gd fmla="val 8333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393192" y="4457700"/>
            <a:ext cx="183000" cy="1830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93192" y="4274820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RF07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051560" y="427482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Descontar Saldo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051560" y="454914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Débito automático na aprovação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709160" y="4219956"/>
            <a:ext cx="4224600" cy="658500"/>
          </a:xfrm>
          <a:prstGeom prst="roundRect">
            <a:avLst>
              <a:gd fmla="val 8333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828032" y="4457700"/>
            <a:ext cx="183000" cy="1830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828032" y="4274820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RF08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86400" y="427482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Registrar Histórico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486400" y="454914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Toda tentativa salva no banco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74320" y="4951476"/>
            <a:ext cx="4224600" cy="658500"/>
          </a:xfrm>
          <a:prstGeom prst="roundRect">
            <a:avLst>
              <a:gd fmla="val 8333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393192" y="5189220"/>
            <a:ext cx="183000" cy="1830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393192" y="5006340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RF09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051560" y="500634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Exibir Histórico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51560" y="528066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Listagem de passagens registradas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709160" y="4951476"/>
            <a:ext cx="4224600" cy="658500"/>
          </a:xfrm>
          <a:prstGeom prst="roundRect">
            <a:avLst>
              <a:gd fmla="val 8333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828032" y="5189220"/>
            <a:ext cx="183000" cy="1830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828032" y="5006340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RF10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486400" y="500634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Acesso Mobile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486400" y="5280660"/>
            <a:ext cx="333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Link público via Codespaces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2  •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9" name="Google Shape;2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/>
          <p:nvPr/>
        </p:nvSpPr>
        <p:spPr>
          <a:xfrm>
            <a:off x="274320" y="1257300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Escopo do Sistema &amp; MVP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74320" y="2034540"/>
            <a:ext cx="4023300" cy="3566100"/>
          </a:xfrm>
          <a:prstGeom prst="roundRect">
            <a:avLst>
              <a:gd fmla="val 2564" name="adj"/>
            </a:avLst>
          </a:prstGeom>
          <a:solidFill>
            <a:srgbClr val="1A3A2A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57200" y="2125980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No Escopo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7200" y="2555748"/>
            <a:ext cx="36576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Criação e consulta de cartões virtuais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Validação na catraca (aprovação/negação)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de dados SQLite com histórico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Interface responsiva para mobile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Mensagens claras de resultado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Acesso por múltiplos dispositivos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617720" y="2034540"/>
            <a:ext cx="4251900" cy="1828800"/>
          </a:xfrm>
          <a:prstGeom prst="roundRect">
            <a:avLst>
              <a:gd fmla="val 5000" name="adj"/>
            </a:avLst>
          </a:prstGeom>
          <a:solidFill>
            <a:srgbClr val="3A1A1A"/>
          </a:solidFill>
          <a:ln cap="flat" cmpd="sng" w="12700">
            <a:solidFill>
              <a:srgbClr val="BE1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773168" y="2125980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E12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E123C"/>
                </a:solidFill>
                <a:latin typeface="Arial"/>
                <a:ea typeface="Arial"/>
                <a:cs typeface="Arial"/>
                <a:sym typeface="Arial"/>
              </a:rPr>
              <a:t>Fora do Escopo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773168" y="2555748"/>
            <a:ext cx="3931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Catraca física ou integração RFID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Pagamento real / integração bancária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Aplicativo nativo iOS ou Android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617720" y="4000500"/>
            <a:ext cx="4251900" cy="1572900"/>
          </a:xfrm>
          <a:prstGeom prst="roundRect">
            <a:avLst>
              <a:gd fmla="val 5814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773168" y="4082796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MVP Definido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773168" y="4466844"/>
            <a:ext cx="3950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Criar cartao → Exibir ID → Digitar na catraca → Validar → Aprovar/Negar → Salvar no 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2  •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" name="Google Shape;23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274320" y="1179606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de Dados Inicial (PRD)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274320" y="1956846"/>
            <a:ext cx="8595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O PRD definiu um modelo simples de 2 tabelas suficiente para o MVP. O sistema final vai muito além: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274320" y="2414046"/>
            <a:ext cx="416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Tabela: cartoes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" name="Google Shape;240;p10"/>
          <p:cNvGraphicFramePr/>
          <p:nvPr/>
        </p:nvGraphicFramePr>
        <p:xfrm>
          <a:off x="274320" y="27980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{3C4AB92E-73FF-4A4B-BF1D-1FBA039DB18C}</a:tableStyleId>
              </a:tblPr>
              <a:tblGrid>
                <a:gridCol w="1386850"/>
                <a:gridCol w="1386850"/>
                <a:gridCol w="1386850"/>
              </a:tblGrid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Descricao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PK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Identificador unico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nome_passageiro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Nome do usuario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Saldo disponivel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ativo / bloqueado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data_criacao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de cadastro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</a:tbl>
          </a:graphicData>
        </a:graphic>
      </p:graphicFrame>
      <p:sp>
        <p:nvSpPr>
          <p:cNvPr id="241" name="Google Shape;241;p10"/>
          <p:cNvSpPr/>
          <p:nvPr/>
        </p:nvSpPr>
        <p:spPr>
          <a:xfrm>
            <a:off x="4709160" y="2414046"/>
            <a:ext cx="416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Tabela: passagens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10"/>
          <p:cNvGraphicFramePr/>
          <p:nvPr/>
        </p:nvGraphicFramePr>
        <p:xfrm>
          <a:off x="4709160" y="27980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{3C4AB92E-73FF-4A4B-BF1D-1FBA039DB18C}</a:tableStyleId>
              </a:tblPr>
              <a:tblGrid>
                <a:gridCol w="1386850"/>
                <a:gridCol w="1386850"/>
                <a:gridCol w="1386850"/>
              </a:tblGrid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Campo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Descricao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PK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unico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cartao_id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 FK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Referencia cartao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data_hora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DATETIME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Momento da passagem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aprovado / negado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valor_cobrado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debitado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</a:tbl>
          </a:graphicData>
        </a:graphic>
      </p:graphicFrame>
      <p:sp>
        <p:nvSpPr>
          <p:cNvPr id="243" name="Google Shape;243;p10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2  •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116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987552" y="237744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BLONDE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914400" y="1988820"/>
            <a:ext cx="7315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— PARTE 3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57200" y="2491740"/>
            <a:ext cx="8229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de Dados: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Arquitetura e Modelagem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8" name="Google Shape;2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>
            <a:off x="786384" y="128016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3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274320" y="1202468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Evolução do Banco de Dados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274320" y="1979708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Do MVP com 2 tabelas a um modelo completo com 9 entidades: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2" name="Google Shape;262;p12"/>
          <p:cNvGraphicFramePr/>
          <p:nvPr/>
        </p:nvGraphicFramePr>
        <p:xfrm>
          <a:off x="274320" y="24369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{3C4AB92E-73FF-4A4B-BF1D-1FBA039DB18C}</a:tableStyleId>
              </a:tblPr>
              <a:tblGrid>
                <a:gridCol w="2834650"/>
                <a:gridCol w="2651750"/>
                <a:gridCol w="3108950"/>
              </a:tblGrid>
              <a:tr h="35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PRD Inicial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Sistema Final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</a:tr>
              <a:tr h="35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Tabelas / Entidades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tabelas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 entidades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35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Usuarios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Nao modelado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Separados dos cartoes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35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Dispositivos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Nao previsto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15803D"/>
                          </a:solidFill>
                        </a:rPr>
                        <a:t>Gestão</a:t>
                      </a:r>
                      <a:r>
                        <a:rPr lang="en-US" sz="12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terminais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35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Estacoes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Nao previsto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Cadastro ativo/inativo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35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Historico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 passagens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Passagens + Recargas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35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Rotas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Nao previsto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Planejamento completo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35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Configuracoes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Fixas no codigo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Dinamicas no banco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35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/ QR Code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Nao previsto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Implementado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274320" y="1248156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 9 Entidades do Sistema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274320" y="2025396"/>
            <a:ext cx="2816400" cy="1115700"/>
          </a:xfrm>
          <a:prstGeom prst="roundRect">
            <a:avLst>
              <a:gd fmla="val 5738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393192" y="2116836"/>
            <a:ext cx="257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93192" y="2391156"/>
            <a:ext cx="257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Credenciais de acesso e perfil de cada usuário do 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3227832" y="2025396"/>
            <a:ext cx="2816400" cy="1115700"/>
          </a:xfrm>
          <a:prstGeom prst="roundRect">
            <a:avLst>
              <a:gd fmla="val 5738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3346704" y="2116836"/>
            <a:ext cx="257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cartoes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3346704" y="2391156"/>
            <a:ext cx="257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Dados do passageiro: nome, CPF, celular, saldo, status, QR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181344" y="2025396"/>
            <a:ext cx="2816400" cy="1115700"/>
          </a:xfrm>
          <a:prstGeom prst="roundRect">
            <a:avLst>
              <a:gd fmla="val 5738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6300216" y="2116836"/>
            <a:ext cx="257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dispositivos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6300216" y="2391156"/>
            <a:ext cx="257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Terminais físicos vinculados ao sistema (admin, catraca, usuario)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274320" y="3259836"/>
            <a:ext cx="2816400" cy="1115700"/>
          </a:xfrm>
          <a:prstGeom prst="roundRect">
            <a:avLst>
              <a:gd fmla="val 5738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393192" y="3351276"/>
            <a:ext cx="257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estacoes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393192" y="3625596"/>
            <a:ext cx="257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Pontos do sistema de transporte com status ativo/inativo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3227832" y="3259836"/>
            <a:ext cx="2816400" cy="1115700"/>
          </a:xfrm>
          <a:prstGeom prst="roundRect">
            <a:avLst>
              <a:gd fmla="val 5738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3346704" y="3351276"/>
            <a:ext cx="257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passagens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3346704" y="3625596"/>
            <a:ext cx="257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Histórico de validações com motivo, valor debitado e resultado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181344" y="3259836"/>
            <a:ext cx="2816400" cy="1115700"/>
          </a:xfrm>
          <a:prstGeom prst="roundRect">
            <a:avLst>
              <a:gd fmla="val 5738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6300216" y="3351276"/>
            <a:ext cx="257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recargas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6300216" y="3625596"/>
            <a:ext cx="257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Histórico de recargas de crédito realizadas pelo passageiro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274320" y="4494276"/>
            <a:ext cx="2816400" cy="1115700"/>
          </a:xfrm>
          <a:prstGeom prst="roundRect">
            <a:avLst>
              <a:gd fmla="val 5738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393192" y="4585716"/>
            <a:ext cx="257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rotas_viagem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393192" y="4860036"/>
            <a:ext cx="257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Plano de viagem criado pelo passageiro com origem e destino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3227832" y="4494276"/>
            <a:ext cx="2816400" cy="1115700"/>
          </a:xfrm>
          <a:prstGeom prst="roundRect">
            <a:avLst>
              <a:gd fmla="val 5738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3346704" y="4585716"/>
            <a:ext cx="257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trechos_viagem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346704" y="4860036"/>
            <a:ext cx="257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Estações individuais que compõem uma rota planejada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6181344" y="4494276"/>
            <a:ext cx="2816400" cy="1115700"/>
          </a:xfrm>
          <a:prstGeom prst="roundRect">
            <a:avLst>
              <a:gd fmla="val 5738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6300216" y="4585716"/>
            <a:ext cx="257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configuracoes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300216" y="4860036"/>
            <a:ext cx="2578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Parâmetros dinâmicos: tarifa, limites de recarga, permissões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3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3" name="Google Shape;3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/>
          <p:nvPr/>
        </p:nvSpPr>
        <p:spPr>
          <a:xfrm>
            <a:off x="274320" y="1248156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Relacionamentos e Integridade Referencial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274320" y="2025396"/>
            <a:ext cx="859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Relacionamentos do Modelo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274320" y="2427732"/>
            <a:ext cx="85953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1:1  —  Cada cartao pertence a um usuario de perfil passageiro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1:N  —  Um </a:t>
            </a:r>
            <a:r>
              <a:rPr lang="en-US" sz="1300">
                <a:solidFill>
                  <a:srgbClr val="FFFFFF"/>
                </a:solidFill>
              </a:rPr>
              <a:t>cartão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pode ter N passagens e N recargas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1:N  —  Um </a:t>
            </a:r>
            <a:r>
              <a:rPr lang="en-US" sz="1300">
                <a:solidFill>
                  <a:srgbClr val="FFFFFF"/>
                </a:solidFill>
              </a:rPr>
              <a:t>cartão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pode ter N rotas_viagem planejadas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1:N  —  Uma rota_viagem contém N trechos_viagem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N:1  —  Cada trecho_viagem referencia uma estacao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1:N  —  Um usuario pode ter N dispositivos vinculados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274320" y="4421124"/>
            <a:ext cx="8595300" cy="1188600"/>
          </a:xfrm>
          <a:prstGeom prst="roundRect">
            <a:avLst>
              <a:gd fmla="val 7692" name="adj"/>
            </a:avLst>
          </a:prstGeom>
          <a:solidFill>
            <a:srgbClr val="1C1A0A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457200" y="4494276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C9A227"/>
                </a:solidFill>
              </a:rPr>
              <a:t>Exclusão</a:t>
            </a: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 em Cascata: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457200" y="4805172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Ao excluir um </a:t>
            </a:r>
            <a:r>
              <a:rPr lang="en-US" sz="1200">
                <a:solidFill>
                  <a:srgbClr val="FFFFFF"/>
                </a:solidFill>
              </a:rPr>
              <a:t>cartão</a:t>
            </a: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o sistema remove automaticamente todos os dados vinculados — dispositivos, passagens, recargas, rotas e trechos — garantindo </a:t>
            </a:r>
            <a:r>
              <a:rPr lang="en-US" sz="1200">
                <a:solidFill>
                  <a:srgbClr val="FFFFFF"/>
                </a:solidFill>
              </a:rPr>
              <a:t>consistência</a:t>
            </a: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sem registros </a:t>
            </a:r>
            <a:r>
              <a:rPr lang="en-US" sz="1200">
                <a:solidFill>
                  <a:srgbClr val="FFFFFF"/>
                </a:solidFill>
              </a:rPr>
              <a:t>órfãos</a:t>
            </a: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no banco.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3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6" name="Google Shape;3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5"/>
          <p:cNvSpPr/>
          <p:nvPr/>
        </p:nvSpPr>
        <p:spPr>
          <a:xfrm>
            <a:off x="274320" y="1275588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SQLite e Estratégia de Migração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274320" y="2052828"/>
            <a:ext cx="393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Por que SQLite?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274320" y="2455164"/>
            <a:ext cx="41148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Embutido no Python — zero instalacao adicional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Suporte a </a:t>
            </a:r>
            <a:r>
              <a:rPr lang="en-US" sz="1250">
                <a:solidFill>
                  <a:srgbClr val="FFFFFF"/>
                </a:solidFill>
              </a:rPr>
              <a:t>transações</a:t>
            </a: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ACID e chaves estrangeiras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Portabilidade total: banco e um </a:t>
            </a:r>
            <a:r>
              <a:rPr lang="en-US" sz="1250">
                <a:solidFill>
                  <a:srgbClr val="FFFFFF"/>
                </a:solidFill>
              </a:rPr>
              <a:t>único</a:t>
            </a: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arquivo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Ideal para prototipos e sistemas de medio porte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4754880" y="2052828"/>
            <a:ext cx="4114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Migração Automática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4754880" y="2455164"/>
            <a:ext cx="41148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utils/migrate.py executa a cada inicializacao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TABLE IF NOT EXISTS — sem destruir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FFFFFF"/>
                </a:solidFill>
              </a:rPr>
              <a:t>Adicionar</a:t>
            </a: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colunas novas sem apagar existentes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Popula configuracoes padrao se ausentes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274320" y="4229100"/>
            <a:ext cx="8595300" cy="1353300"/>
          </a:xfrm>
          <a:prstGeom prst="roundRect">
            <a:avLst>
              <a:gd fmla="val 6081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457200" y="4311396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Conexao por Requisicao: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457200" y="4613148"/>
            <a:ext cx="8229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modulo utils/database.py abre e fecha a conexao SQLite a cada requisicao Flask (g.db). Isso garante isolamento entre usuarios simultaneos, evitando conflitos e garantindo integridade dos dados em ambiente multi-dispositivo.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3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1" name="Google Shape;3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116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6"/>
          <p:cNvSpPr/>
          <p:nvPr/>
        </p:nvSpPr>
        <p:spPr>
          <a:xfrm>
            <a:off x="987552" y="237744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BLONDE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914400" y="1988820"/>
            <a:ext cx="7315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— PARTE 4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457200" y="2491740"/>
            <a:ext cx="8229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Backend, Rotas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Regras de Negócio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0" name="Google Shape;3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7"/>
          <p:cNvSpPr/>
          <p:nvPr/>
        </p:nvSpPr>
        <p:spPr>
          <a:xfrm>
            <a:off x="786384" y="128016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4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274320" y="1257300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Arquitetura Modular Flask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274320" y="20345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Cada </a:t>
            </a:r>
            <a:r>
              <a:rPr lang="en-US" sz="1300">
                <a:solidFill>
                  <a:srgbClr val="FAFAFA"/>
                </a:solidFill>
              </a:rPr>
              <a:t>área</a:t>
            </a: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 do sistema possui </a:t>
            </a:r>
            <a:r>
              <a:rPr lang="en-US" sz="1300">
                <a:solidFill>
                  <a:srgbClr val="FAFAFA"/>
                </a:solidFill>
              </a:rPr>
              <a:t>módulo</a:t>
            </a: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>
                <a:solidFill>
                  <a:srgbClr val="FAFAFA"/>
                </a:solidFill>
              </a:rPr>
              <a:t>próprio</a:t>
            </a: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 de rotas, importado no app.py via Blueprint: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274320" y="2510028"/>
            <a:ext cx="8595300" cy="420600"/>
          </a:xfrm>
          <a:prstGeom prst="roundRect">
            <a:avLst>
              <a:gd fmla="val 13043" name="adj"/>
            </a:avLst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274320" y="2510028"/>
            <a:ext cx="8595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app.py  (ponto de entrada)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274320" y="3086100"/>
            <a:ext cx="1627500" cy="960000"/>
          </a:xfrm>
          <a:prstGeom prst="roundRect">
            <a:avLst>
              <a:gd fmla="val 5714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7"/>
          <p:cNvSpPr/>
          <p:nvPr/>
        </p:nvSpPr>
        <p:spPr>
          <a:xfrm>
            <a:off x="320040" y="3131820"/>
            <a:ext cx="153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routes/main.py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320040" y="3479292"/>
            <a:ext cx="153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Login e health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1993392" y="3086100"/>
            <a:ext cx="1627500" cy="960000"/>
          </a:xfrm>
          <a:prstGeom prst="roundRect">
            <a:avLst>
              <a:gd fmla="val 5714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2039112" y="3131820"/>
            <a:ext cx="153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routes/admin.py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2039112" y="3479292"/>
            <a:ext cx="153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</a:rPr>
              <a:t>Cartões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000">
                <a:solidFill>
                  <a:srgbClr val="FFFFFF"/>
                </a:solidFill>
              </a:rPr>
              <a:t>configurações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3712464" y="3086100"/>
            <a:ext cx="1627500" cy="960000"/>
          </a:xfrm>
          <a:prstGeom prst="roundRect">
            <a:avLst>
              <a:gd fmla="val 5714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3758184" y="3131820"/>
            <a:ext cx="153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routes/usuario.py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3758184" y="3479292"/>
            <a:ext cx="153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Cartao, recarga e PDF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5431536" y="3086100"/>
            <a:ext cx="1627500" cy="960000"/>
          </a:xfrm>
          <a:prstGeom prst="roundRect">
            <a:avLst>
              <a:gd fmla="val 5714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5477256" y="3131820"/>
            <a:ext cx="153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routes/catraca.py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5477256" y="3479292"/>
            <a:ext cx="153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Validacao de entrada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7150608" y="3086100"/>
            <a:ext cx="1627500" cy="960000"/>
          </a:xfrm>
          <a:prstGeom prst="roundRect">
            <a:avLst>
              <a:gd fmla="val 5714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7196328" y="3131820"/>
            <a:ext cx="153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routes/dispositivos.py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7196328" y="3479292"/>
            <a:ext cx="153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</a:rPr>
              <a:t>Gestão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 terminais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274320" y="4210812"/>
            <a:ext cx="8595300" cy="1389900"/>
          </a:xfrm>
          <a:prstGeom prst="roundRect">
            <a:avLst>
              <a:gd fmla="val 3947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457200" y="426567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utils/  (servicos compartilhados)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457200" y="457657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auth.py   •   config.py   •   database.py   •   helpers.py   •   migrate.py   •   queries.py   •   validation.py   •   pdf.py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9" name="Google Shape;3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8"/>
          <p:cNvSpPr/>
          <p:nvPr/>
        </p:nvSpPr>
        <p:spPr>
          <a:xfrm>
            <a:off x="274320" y="1202380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Principais Rotas do Sistema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274320" y="197962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Todas as rotas protegidas exigem </a:t>
            </a:r>
            <a:r>
              <a:rPr lang="en-US" sz="1300">
                <a:solidFill>
                  <a:srgbClr val="FAFAFA"/>
                </a:solidFill>
              </a:rPr>
              <a:t>sessão</a:t>
            </a: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 criada pelo login. Tokens em URL nao concedem acesso.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" name="Google Shape;372;p18"/>
          <p:cNvGraphicFramePr/>
          <p:nvPr/>
        </p:nvGraphicFramePr>
        <p:xfrm>
          <a:off x="274320" y="24368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{3C4AB92E-73FF-4A4B-BF1D-1FBA039DB18C}</a:tableStyleId>
              </a:tblPr>
              <a:tblGrid>
                <a:gridCol w="1097275"/>
                <a:gridCol w="3017525"/>
                <a:gridCol w="448055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Rota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Descricao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/health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Verificacao de disponibilidade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GET/POST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/login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Autenticacao por perfil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GET/POST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/criar-cartao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Cadastro de novo </a:t>
                      </a:r>
                      <a:r>
                        <a:rPr lang="en-US" sz="1050">
                          <a:solidFill>
                            <a:srgbClr val="FFFFFF"/>
                          </a:solidFill>
                        </a:rPr>
                        <a:t>cartão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/admin/cartoes/&lt;id&gt;/status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Bloquear ou ativar </a:t>
                      </a:r>
                      <a:r>
                        <a:rPr lang="en-US" sz="1050">
                          <a:solidFill>
                            <a:srgbClr val="FFFFFF"/>
                          </a:solidFill>
                        </a:rPr>
                        <a:t>cartão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/admin/cartoes/&lt;id&gt;/excluir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Exclusao com cascata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GET/POST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/admin/configuracoes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FFFFFF"/>
                          </a:solidFill>
                        </a:rPr>
                        <a:t>Configurações</a:t>
                      </a: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do sistema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/usuario/meu-cartao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Dados do </a:t>
                      </a:r>
                      <a:r>
                        <a:rPr lang="en-US" sz="1050">
                          <a:solidFill>
                            <a:srgbClr val="FFFFFF"/>
                          </a:solidFill>
                        </a:rPr>
                        <a:t>cartão</a:t>
                      </a: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do passageiro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GET/POST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/usuario/recarregar-cartao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Recarga de </a:t>
                      </a:r>
                      <a:r>
                        <a:rPr lang="en-US" sz="1050">
                          <a:solidFill>
                            <a:srgbClr val="FFFFFF"/>
                          </a:solidFill>
                        </a:rPr>
                        <a:t>créditos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/usuario/cartao/pdf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Download do PDF com QR Code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GET/POST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/usuario/planejar-viagem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Planejamento de rota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/catraca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Interface da catraca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24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A22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9A2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/catraca/validar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Validacao de entrada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373" name="Google Shape;373;p18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4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9" name="Google Shape;3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9"/>
          <p:cNvSpPr/>
          <p:nvPr/>
        </p:nvSpPr>
        <p:spPr>
          <a:xfrm>
            <a:off x="274320" y="1165860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Validação da Catraca: 5 Etapas em Sequência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274320" y="1943100"/>
            <a:ext cx="1627500" cy="3547800"/>
          </a:xfrm>
          <a:prstGeom prst="roundRect">
            <a:avLst>
              <a:gd fmla="val 5056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859536" y="2052828"/>
            <a:ext cx="457200" cy="4572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859536" y="20528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365760" y="2601468"/>
            <a:ext cx="144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Localizar Cartao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365760" y="3131820"/>
            <a:ext cx="1444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Busca por codigo publico ou QR Code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Se nao encontrado: Negado — Cartao nao encontrado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2029968" y="1943100"/>
            <a:ext cx="1627500" cy="3547800"/>
          </a:xfrm>
          <a:prstGeom prst="roundRect">
            <a:avLst>
              <a:gd fmla="val 5056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2615184" y="2052828"/>
            <a:ext cx="457200" cy="4572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2615184" y="20528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2121408" y="2601468"/>
            <a:ext cx="144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Verificar Status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2121408" y="3131820"/>
            <a:ext cx="1444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Se status = bloqueado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Negado — Cartao bloqueado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3785616" y="1943100"/>
            <a:ext cx="1627500" cy="3547800"/>
          </a:xfrm>
          <a:prstGeom prst="roundRect">
            <a:avLst>
              <a:gd fmla="val 5056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4370832" y="2052828"/>
            <a:ext cx="457200" cy="4572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4370832" y="20528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3877056" y="2601468"/>
            <a:ext cx="144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Verificar Saldo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3877056" y="3131820"/>
            <a:ext cx="1444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Se saldo &lt; tarifa_atual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Negado — Saldo insuficiente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5541264" y="1943100"/>
            <a:ext cx="1627500" cy="3547800"/>
          </a:xfrm>
          <a:prstGeom prst="roundRect">
            <a:avLst>
              <a:gd fmla="val 5056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6126480" y="2052828"/>
            <a:ext cx="457200" cy="4572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6126480" y="20528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5632704" y="2601468"/>
            <a:ext cx="144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Verificar Rota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5632704" y="3131820"/>
            <a:ext cx="1444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Se houver rota ativa, confere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se a estacao atual </a:t>
            </a:r>
            <a:r>
              <a:rPr lang="en-US" sz="1050">
                <a:solidFill>
                  <a:srgbClr val="DDDDDD"/>
                </a:solidFill>
              </a:rPr>
              <a:t>está</a:t>
            </a: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1050">
                <a:solidFill>
                  <a:srgbClr val="DDDDDD"/>
                </a:solidFill>
              </a:rPr>
              <a:t>itinerário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7296912" y="1943100"/>
            <a:ext cx="1627500" cy="3547800"/>
          </a:xfrm>
          <a:prstGeom prst="roundRect">
            <a:avLst>
              <a:gd fmla="val 5056" name="adj"/>
            </a:avLst>
          </a:prstGeom>
          <a:solidFill>
            <a:srgbClr val="15803D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9"/>
          <p:cNvSpPr/>
          <p:nvPr/>
        </p:nvSpPr>
        <p:spPr>
          <a:xfrm>
            <a:off x="7882128" y="2052828"/>
            <a:ext cx="457200" cy="457200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"/>
          <p:cNvSpPr/>
          <p:nvPr/>
        </p:nvSpPr>
        <p:spPr>
          <a:xfrm>
            <a:off x="7882128" y="20528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7388352" y="2601468"/>
            <a:ext cx="144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Aprovar e Registrar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7388352" y="3131820"/>
            <a:ext cx="1444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Desconta tarifa, cria registro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em passagens com status aprovado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274320" y="5509260"/>
            <a:ext cx="859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Em caso de negacao: o motivo </a:t>
            </a:r>
            <a:r>
              <a:rPr i="1" lang="en-US" sz="1000">
                <a:solidFill>
                  <a:srgbClr val="FAFAFA"/>
                </a:solidFill>
              </a:rPr>
              <a:t>é</a:t>
            </a:r>
            <a:r>
              <a:rPr b="0" i="1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 registrado na tabela passagens para auditoria completa.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4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3" name="Google Shape;4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0"/>
          <p:cNvSpPr/>
          <p:nvPr/>
        </p:nvSpPr>
        <p:spPr>
          <a:xfrm>
            <a:off x="274320" y="1225296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Configurações Dinâmicas Administrativas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274320" y="2002536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O administrador controla o comportamento do sistema em tempo real — sem reinicializar a </a:t>
            </a:r>
            <a:r>
              <a:rPr lang="en-US" sz="1300">
                <a:solidFill>
                  <a:srgbClr val="FAFAFA"/>
                </a:solidFill>
              </a:rPr>
              <a:t>aplicação</a:t>
            </a: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274320" y="2505456"/>
            <a:ext cx="4224600" cy="877800"/>
          </a:xfrm>
          <a:prstGeom prst="roundRect">
            <a:avLst>
              <a:gd fmla="val 7292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/>
          <p:nvPr/>
        </p:nvSpPr>
        <p:spPr>
          <a:xfrm>
            <a:off x="393192" y="2843784"/>
            <a:ext cx="155400" cy="1554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393192" y="2578608"/>
            <a:ext cx="397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da passagem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667512" y="2926080"/>
            <a:ext cx="3712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Debito na catraca e estimativa de custo de rota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4709160" y="2505456"/>
            <a:ext cx="4224600" cy="877800"/>
          </a:xfrm>
          <a:prstGeom prst="roundRect">
            <a:avLst>
              <a:gd fmla="val 7292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4828032" y="2843784"/>
            <a:ext cx="155400" cy="1554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4828032" y="2578608"/>
            <a:ext cx="397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Historico de passagens (horas)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5102352" y="2926080"/>
            <a:ext cx="3712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Prazo de retencao dos registros de entrada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274320" y="3493008"/>
            <a:ext cx="4224600" cy="877800"/>
          </a:xfrm>
          <a:prstGeom prst="roundRect">
            <a:avLst>
              <a:gd fmla="val 7292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393192" y="3831336"/>
            <a:ext cx="155400" cy="1554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393192" y="3566160"/>
            <a:ext cx="397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minimo de recarga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667512" y="3913632"/>
            <a:ext cx="3712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Limite inferior para recargas e saldo inicial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4709160" y="3493008"/>
            <a:ext cx="4224600" cy="877800"/>
          </a:xfrm>
          <a:prstGeom prst="roundRect">
            <a:avLst>
              <a:gd fmla="val 7292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0"/>
          <p:cNvSpPr/>
          <p:nvPr/>
        </p:nvSpPr>
        <p:spPr>
          <a:xfrm>
            <a:off x="4828032" y="3831336"/>
            <a:ext cx="155400" cy="1554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0"/>
          <p:cNvSpPr/>
          <p:nvPr/>
        </p:nvSpPr>
        <p:spPr>
          <a:xfrm>
            <a:off x="4828032" y="3566160"/>
            <a:ext cx="397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</a:t>
            </a:r>
            <a:r>
              <a:rPr b="1" lang="en-US" sz="1200">
                <a:solidFill>
                  <a:srgbClr val="FFFFFF"/>
                </a:solidFill>
              </a:rPr>
              <a:t>máximo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 recarga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5102352" y="3913632"/>
            <a:ext cx="3712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Limite superior para recargas e saldo inicial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274320" y="4480560"/>
            <a:ext cx="4224600" cy="877800"/>
          </a:xfrm>
          <a:prstGeom prst="roundRect">
            <a:avLst>
              <a:gd fmla="val 7292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0"/>
          <p:cNvSpPr/>
          <p:nvPr/>
        </p:nvSpPr>
        <p:spPr>
          <a:xfrm>
            <a:off x="393192" y="4818888"/>
            <a:ext cx="155400" cy="1554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0"/>
          <p:cNvSpPr/>
          <p:nvPr/>
        </p:nvSpPr>
        <p:spPr>
          <a:xfrm>
            <a:off x="393192" y="4553712"/>
            <a:ext cx="397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Historico de recargas (dias)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667512" y="4901184"/>
            <a:ext cx="3712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Prazo de retencao dos registros de recarga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4709160" y="4480560"/>
            <a:ext cx="4224600" cy="877800"/>
          </a:xfrm>
          <a:prstGeom prst="roundRect">
            <a:avLst>
              <a:gd fmla="val 7292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0"/>
          <p:cNvSpPr/>
          <p:nvPr/>
        </p:nvSpPr>
        <p:spPr>
          <a:xfrm>
            <a:off x="4828032" y="4818888"/>
            <a:ext cx="155400" cy="1554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0"/>
          <p:cNvSpPr/>
          <p:nvPr/>
        </p:nvSpPr>
        <p:spPr>
          <a:xfrm>
            <a:off x="4828032" y="4553712"/>
            <a:ext cx="397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Permitir download do PDF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5102352" y="4901184"/>
            <a:ext cx="3712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Libera ou bloqueia o </a:t>
            </a:r>
            <a:r>
              <a:rPr lang="en-US" sz="1100">
                <a:solidFill>
                  <a:srgbClr val="FAFAFA"/>
                </a:solidFill>
              </a:rPr>
              <a:t>botão</a:t>
            </a:r>
            <a:r>
              <a:rPr b="0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 e a rota de PDF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0"/>
          <p:cNvSpPr/>
          <p:nvPr/>
        </p:nvSpPr>
        <p:spPr>
          <a:xfrm>
            <a:off x="274320" y="5431536"/>
            <a:ext cx="8595300" cy="201300"/>
          </a:xfrm>
          <a:prstGeom prst="roundRect">
            <a:avLst>
              <a:gd fmla="val 18182" name="adj"/>
            </a:avLst>
          </a:prstGeom>
          <a:solidFill>
            <a:srgbClr val="090909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0"/>
          <p:cNvSpPr/>
          <p:nvPr/>
        </p:nvSpPr>
        <p:spPr>
          <a:xfrm>
            <a:off x="365760" y="5440680"/>
            <a:ext cx="8412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Persistidas na tabela </a:t>
            </a:r>
            <a:r>
              <a:rPr i="1" lang="en-US" sz="950">
                <a:solidFill>
                  <a:srgbClr val="E8B84B"/>
                </a:solidFill>
              </a:rPr>
              <a:t>configurações</a:t>
            </a:r>
            <a:r>
              <a:rPr b="0" i="1" lang="en-US" sz="950" u="none" cap="none" strike="noStrike">
                <a:solidFill>
                  <a:srgbClr val="E8B84B"/>
                </a:solidFill>
                <a:latin typeface="Arial"/>
                <a:ea typeface="Arial"/>
                <a:cs typeface="Arial"/>
                <a:sym typeface="Arial"/>
              </a:rPr>
              <a:t> e lidas dinamicamente a cada requisicao relevante.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4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8" name="Google Shape;4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0116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1"/>
          <p:cNvSpPr/>
          <p:nvPr/>
        </p:nvSpPr>
        <p:spPr>
          <a:xfrm>
            <a:off x="987552" y="237744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BLONDE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914400" y="1988820"/>
            <a:ext cx="7315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— PARTE 5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457200" y="2491740"/>
            <a:ext cx="8229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Resultados, Demo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Conclusão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7" name="Google Shape;4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2"/>
          <p:cNvSpPr/>
          <p:nvPr/>
        </p:nvSpPr>
        <p:spPr>
          <a:xfrm>
            <a:off x="786384" y="128016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5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274320" y="1211630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PRD vs Sistema Final: A Evolução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0" name="Google Shape;460;p22"/>
          <p:cNvGraphicFramePr/>
          <p:nvPr/>
        </p:nvGraphicFramePr>
        <p:xfrm>
          <a:off x="274320" y="19888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{3C4AB92E-73FF-4A4B-BF1D-1FBA039DB18C}</a:tableStyleId>
              </a:tblPr>
              <a:tblGrid>
                <a:gridCol w="2560325"/>
                <a:gridCol w="2743200"/>
                <a:gridCol w="32918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PRD Inicial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0909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909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Sistema Final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22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Tabelas BD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tabelas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 entidades completas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Perfis de usuario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(passageiro, catraca)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(+ administrador)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Validacao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 ID numerico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QR Code + token privado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Historico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 passagens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Passagens + Recargas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Rotas de viagem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Nao previsto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Planejamento completo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Nao previsto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PDF com QR Code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Configuracoes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Fixas no codigo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Dinamicas no banco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Dispositivos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Nao previsto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15803D"/>
                          </a:solidFill>
                        </a:rPr>
                        <a:t>Gestão</a:t>
                      </a:r>
                      <a:r>
                        <a:rPr lang="en-US" sz="11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terminais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Seguranca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Basica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803D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15803D"/>
                          </a:solidFill>
                        </a:rPr>
                        <a:t>Sessões</a:t>
                      </a:r>
                      <a:r>
                        <a:rPr lang="en-US" sz="1100" u="none" cap="none" strike="noStrike">
                          <a:solidFill>
                            <a:srgbClr val="1580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tokens por perfil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A4A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90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6" name="Google Shape;4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3"/>
          <p:cNvSpPr/>
          <p:nvPr/>
        </p:nvSpPr>
        <p:spPr>
          <a:xfrm>
            <a:off x="274320" y="1133728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Roteiro de Demonstração ao Vivo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274320" y="2258568"/>
            <a:ext cx="8595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12 etapas para demonstrar todas as funcionalidades do sistema: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274320" y="2788920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3"/>
          <p:cNvSpPr/>
          <p:nvPr/>
        </p:nvSpPr>
        <p:spPr>
          <a:xfrm>
            <a:off x="274320" y="278892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621792" y="2715768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Iniciar no GitHub Codespaces e abrir a porta 5000 publicamente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274320" y="3236976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3"/>
          <p:cNvSpPr/>
          <p:nvPr/>
        </p:nvSpPr>
        <p:spPr>
          <a:xfrm>
            <a:off x="274320" y="323697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621792" y="3163824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Entrar como Administrador e criar um </a:t>
            </a:r>
            <a:r>
              <a:rPr lang="en-US" sz="1100">
                <a:solidFill>
                  <a:srgbClr val="FFFFFF"/>
                </a:solidFill>
              </a:rPr>
              <a:t>cartão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100">
                <a:solidFill>
                  <a:srgbClr val="FFFFFF"/>
                </a:solidFill>
              </a:rPr>
              <a:t>demonstração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3"/>
          <p:cNvSpPr/>
          <p:nvPr/>
        </p:nvSpPr>
        <p:spPr>
          <a:xfrm>
            <a:off x="274320" y="3685032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3"/>
          <p:cNvSpPr/>
          <p:nvPr/>
        </p:nvSpPr>
        <p:spPr>
          <a:xfrm>
            <a:off x="274320" y="368503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/>
          <p:nvPr/>
        </p:nvSpPr>
        <p:spPr>
          <a:xfrm>
            <a:off x="621792" y="3611880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Verificar </a:t>
            </a:r>
            <a:r>
              <a:rPr lang="en-US" sz="1100">
                <a:solidFill>
                  <a:srgbClr val="FFFFFF"/>
                </a:solidFill>
              </a:rPr>
              <a:t>formatação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brasileira: CPF, celular e saldo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274320" y="4133088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3"/>
          <p:cNvSpPr/>
          <p:nvPr/>
        </p:nvSpPr>
        <p:spPr>
          <a:xfrm>
            <a:off x="274320" y="413308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621792" y="4059936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Gerar e baixar o cartao PDF com QR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274320" y="4581144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3"/>
          <p:cNvSpPr/>
          <p:nvPr/>
        </p:nvSpPr>
        <p:spPr>
          <a:xfrm>
            <a:off x="274320" y="458114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3"/>
          <p:cNvSpPr/>
          <p:nvPr/>
        </p:nvSpPr>
        <p:spPr>
          <a:xfrm>
            <a:off x="621792" y="4507992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Entrar como Passageiro em um celular e consultar o </a:t>
            </a:r>
            <a:r>
              <a:rPr lang="en-US" sz="1100">
                <a:solidFill>
                  <a:srgbClr val="FFFFFF"/>
                </a:solidFill>
              </a:rPr>
              <a:t>cartão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3"/>
          <p:cNvSpPr/>
          <p:nvPr/>
        </p:nvSpPr>
        <p:spPr>
          <a:xfrm>
            <a:off x="274320" y="5029200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3"/>
          <p:cNvSpPr/>
          <p:nvPr/>
        </p:nvSpPr>
        <p:spPr>
          <a:xfrm>
            <a:off x="274320" y="502920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3"/>
          <p:cNvSpPr/>
          <p:nvPr/>
        </p:nvSpPr>
        <p:spPr>
          <a:xfrm>
            <a:off x="621792" y="4956048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Efetuar uma recarga de creditos e visualizar o historico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3"/>
          <p:cNvSpPr/>
          <p:nvPr/>
        </p:nvSpPr>
        <p:spPr>
          <a:xfrm>
            <a:off x="4645152" y="2788920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3"/>
          <p:cNvSpPr/>
          <p:nvPr/>
        </p:nvSpPr>
        <p:spPr>
          <a:xfrm>
            <a:off x="4645152" y="278892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3"/>
          <p:cNvSpPr/>
          <p:nvPr/>
        </p:nvSpPr>
        <p:spPr>
          <a:xfrm>
            <a:off x="4992624" y="2715768"/>
            <a:ext cx="387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Acessar a catraca em outro dispositivo e validar pelo QR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3"/>
          <p:cNvSpPr/>
          <p:nvPr/>
        </p:nvSpPr>
        <p:spPr>
          <a:xfrm>
            <a:off x="4645152" y="3236976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3"/>
          <p:cNvSpPr/>
          <p:nvPr/>
        </p:nvSpPr>
        <p:spPr>
          <a:xfrm>
            <a:off x="4645152" y="323697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/>
          <p:nvPr/>
        </p:nvSpPr>
        <p:spPr>
          <a:xfrm>
            <a:off x="4992624" y="3163824"/>
            <a:ext cx="387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Mostrar </a:t>
            </a:r>
            <a:r>
              <a:rPr lang="en-US" sz="1100">
                <a:solidFill>
                  <a:srgbClr val="FFFFFF"/>
                </a:solidFill>
              </a:rPr>
              <a:t>aprovação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da entrada e saldo atualizado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4645152" y="3685032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4645152" y="368503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/>
          <p:cNvSpPr/>
          <p:nvPr/>
        </p:nvSpPr>
        <p:spPr>
          <a:xfrm>
            <a:off x="4992624" y="3611880"/>
            <a:ext cx="387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Tentar entrada com saldo zerado — mostrar </a:t>
            </a:r>
            <a:r>
              <a:rPr lang="en-US" sz="1100">
                <a:solidFill>
                  <a:srgbClr val="FFFFFF"/>
                </a:solidFill>
              </a:rPr>
              <a:t>negação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3"/>
          <p:cNvSpPr/>
          <p:nvPr/>
        </p:nvSpPr>
        <p:spPr>
          <a:xfrm>
            <a:off x="4645152" y="4133088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645152" y="413308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3"/>
          <p:cNvSpPr/>
          <p:nvPr/>
        </p:nvSpPr>
        <p:spPr>
          <a:xfrm>
            <a:off x="4992624" y="4059936"/>
            <a:ext cx="387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Bloquear o </a:t>
            </a:r>
            <a:r>
              <a:rPr lang="en-US" sz="1100">
                <a:solidFill>
                  <a:srgbClr val="FFFFFF"/>
                </a:solidFill>
              </a:rPr>
              <a:t>cartão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pelo painel admin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4645152" y="4581144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4645152" y="458114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4992624" y="4507992"/>
            <a:ext cx="387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Tentar entrar novamente — mostrar </a:t>
            </a:r>
            <a:r>
              <a:rPr lang="en-US" sz="1100">
                <a:solidFill>
                  <a:srgbClr val="FFFFFF"/>
                </a:solidFill>
              </a:rPr>
              <a:t>negação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por bloqueio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3"/>
          <p:cNvSpPr/>
          <p:nvPr/>
        </p:nvSpPr>
        <p:spPr>
          <a:xfrm>
            <a:off x="4645152" y="5029200"/>
            <a:ext cx="255900" cy="255900"/>
          </a:xfrm>
          <a:prstGeom prst="ellipse">
            <a:avLst/>
          </a:prstGeom>
          <a:solidFill>
            <a:srgbClr val="C9A227"/>
          </a:solidFill>
          <a:ln cap="flat" cmpd="sng" w="127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3"/>
          <p:cNvSpPr/>
          <p:nvPr/>
        </p:nvSpPr>
        <p:spPr>
          <a:xfrm>
            <a:off x="4645152" y="502920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9090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9090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/>
          <p:nvPr/>
        </p:nvSpPr>
        <p:spPr>
          <a:xfrm>
            <a:off x="4992624" y="4956048"/>
            <a:ext cx="387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Exibir o </a:t>
            </a:r>
            <a:r>
              <a:rPr lang="en-US" sz="1100">
                <a:solidFill>
                  <a:srgbClr val="FFFFFF"/>
                </a:solidFill>
              </a:rPr>
              <a:t>histórico</a:t>
            </a: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completo com motivos de cada passagem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5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274325" y="1831110"/>
            <a:ext cx="6013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accent4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para repositório GitHub</a:t>
            </a:r>
            <a:endParaRPr b="1" sz="21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2" name="Google Shape;5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4"/>
          <p:cNvSpPr/>
          <p:nvPr/>
        </p:nvSpPr>
        <p:spPr>
          <a:xfrm>
            <a:off x="274320" y="1257300"/>
            <a:ext cx="8595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Lições Aprendidas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4"/>
          <p:cNvSpPr/>
          <p:nvPr/>
        </p:nvSpPr>
        <p:spPr>
          <a:xfrm>
            <a:off x="274320" y="2034540"/>
            <a:ext cx="2816400" cy="3566100"/>
          </a:xfrm>
          <a:prstGeom prst="roundRect">
            <a:avLst>
              <a:gd fmla="val 2597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4"/>
          <p:cNvSpPr/>
          <p:nvPr/>
        </p:nvSpPr>
        <p:spPr>
          <a:xfrm>
            <a:off x="393192" y="2144268"/>
            <a:ext cx="2578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Tecnicas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393192" y="2528316"/>
            <a:ext cx="2578500" cy="29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Modelagem de BD deve ter </a:t>
            </a:r>
            <a:r>
              <a:rPr lang="en-US" sz="1150">
                <a:solidFill>
                  <a:srgbClr val="FFFFFF"/>
                </a:solidFill>
              </a:rPr>
              <a:t>visão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 futuro — 2 tabelas viraram 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Separar responsabilidades em </a:t>
            </a:r>
            <a:r>
              <a:rPr lang="en-US" sz="1150">
                <a:solidFill>
                  <a:srgbClr val="FFFFFF"/>
                </a:solidFill>
              </a:rPr>
              <a:t>módulos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Flask facilitou o trabalho paralelo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SQLite exige ativar chaves estrangeiras: PRAGMA foreign_keys = 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Formatacao monetaria (R$ X,XX) requer </a:t>
            </a:r>
            <a:r>
              <a:rPr lang="en-US" sz="1150">
                <a:solidFill>
                  <a:srgbClr val="FFFFFF"/>
                </a:solidFill>
              </a:rPr>
              <a:t>cuidados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no armazenamento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4"/>
          <p:cNvSpPr/>
          <p:nvPr/>
        </p:nvSpPr>
        <p:spPr>
          <a:xfrm>
            <a:off x="3227832" y="2034540"/>
            <a:ext cx="2816400" cy="3566100"/>
          </a:xfrm>
          <a:prstGeom prst="roundRect">
            <a:avLst>
              <a:gd fmla="val 2597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4"/>
          <p:cNvSpPr/>
          <p:nvPr/>
        </p:nvSpPr>
        <p:spPr>
          <a:xfrm>
            <a:off x="3346704" y="2144268"/>
            <a:ext cx="2578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De Processo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4"/>
          <p:cNvSpPr/>
          <p:nvPr/>
        </p:nvSpPr>
        <p:spPr>
          <a:xfrm>
            <a:off x="3346704" y="2528316"/>
            <a:ext cx="2578500" cy="29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PRD alinhou o entendimento da equipe antes de qualquer codigo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Definir o MVP cedo evitou desperdicio de esforco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Testar a demo no Codespaces com antecedencia preveniu surpresas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/>
          <p:nvPr/>
        </p:nvSpPr>
        <p:spPr>
          <a:xfrm>
            <a:off x="6181344" y="2034540"/>
            <a:ext cx="2816400" cy="3566100"/>
          </a:xfrm>
          <a:prstGeom prst="roundRect">
            <a:avLst>
              <a:gd fmla="val 2597" name="adj"/>
            </a:avLst>
          </a:prstGeom>
          <a:solidFill>
            <a:srgbClr val="090909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4"/>
          <p:cNvSpPr/>
          <p:nvPr/>
        </p:nvSpPr>
        <p:spPr>
          <a:xfrm>
            <a:off x="6300216" y="2144268"/>
            <a:ext cx="2578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Trabalho em Equipe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4"/>
          <p:cNvSpPr/>
          <p:nvPr/>
        </p:nvSpPr>
        <p:spPr>
          <a:xfrm>
            <a:off x="6300216" y="2528316"/>
            <a:ext cx="2578500" cy="29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FFFFFF"/>
                </a:solidFill>
              </a:rPr>
              <a:t>Compartilhamento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 todas as responsabilidades  aumentou a p</a:t>
            </a:r>
            <a:r>
              <a:rPr lang="en-US" sz="1150">
                <a:solidFill>
                  <a:srgbClr val="FFFFFF"/>
                </a:solidFill>
              </a:rPr>
              <a:t>articipação, gerando </a:t>
            </a:r>
            <a:r>
              <a:rPr lang="en-US" sz="1150">
                <a:solidFill>
                  <a:srgbClr val="FFFFFF"/>
                </a:solidFill>
              </a:rPr>
              <a:t>consciência</a:t>
            </a:r>
            <a:r>
              <a:rPr lang="en-US" sz="1150">
                <a:solidFill>
                  <a:srgbClr val="FFFFFF"/>
                </a:solidFill>
              </a:rPr>
              <a:t> coletiva do trabalho;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Documentar </a:t>
            </a:r>
            <a:r>
              <a:rPr lang="en-US" sz="1150">
                <a:solidFill>
                  <a:srgbClr val="FFFFFF"/>
                </a:solidFill>
              </a:rPr>
              <a:t>decisões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50">
                <a:solidFill>
                  <a:srgbClr val="FFFFFF"/>
                </a:solidFill>
              </a:rPr>
              <a:t>técnicas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economizou horas de </a:t>
            </a:r>
            <a:r>
              <a:rPr lang="en-US" sz="1150">
                <a:solidFill>
                  <a:srgbClr val="FFFFFF"/>
                </a:solidFill>
              </a:rPr>
              <a:t>reunião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4"/>
          <p:cNvSpPr/>
          <p:nvPr/>
        </p:nvSpPr>
        <p:spPr>
          <a:xfrm>
            <a:off x="786384" y="128016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PARTE 5  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p24" title="Song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6018264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0" name="Google Shape;5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992124"/>
            <a:ext cx="1417321" cy="1417321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5"/>
          <p:cNvSpPr/>
          <p:nvPr/>
        </p:nvSpPr>
        <p:spPr>
          <a:xfrm>
            <a:off x="457200" y="2500884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Resultados Entregues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731507" y="2953516"/>
            <a:ext cx="7680900" cy="24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Modelagem relacional completa com 9 entidades e integridade referencial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DDDDDD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Sistema multi-perfil: Administrador, Passageiro e Catraca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DDDDDD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DDDDDD"/>
                </a:solidFill>
              </a:rPr>
              <a:t>Validação</a:t>
            </a:r>
            <a:r>
              <a:rPr b="0" i="0" lang="en-US" sz="12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 de entrada com 5 regras de </a:t>
            </a:r>
            <a:r>
              <a:rPr lang="en-US" sz="1250">
                <a:solidFill>
                  <a:srgbClr val="DDDDDD"/>
                </a:solidFill>
              </a:rPr>
              <a:t>negócio</a:t>
            </a:r>
            <a:r>
              <a:rPr b="0" i="0" lang="en-US" sz="12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en-US" sz="1250">
                <a:solidFill>
                  <a:srgbClr val="DDDDDD"/>
                </a:solidFill>
              </a:rPr>
              <a:t>sequência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DDDDDD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rgbClr val="DDDDDD"/>
                </a:solidFill>
              </a:rPr>
              <a:t>Configurações</a:t>
            </a:r>
            <a:r>
              <a:rPr b="0" i="0" lang="en-US" sz="12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50">
                <a:solidFill>
                  <a:srgbClr val="DDDDDD"/>
                </a:solidFill>
              </a:rPr>
              <a:t>dinâmicas</a:t>
            </a:r>
            <a:r>
              <a:rPr b="0" i="0" lang="en-US" sz="12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 que alteram o comportamento em tempo real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DDDDDD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PDF com QR Code, historico, recargas e planejamento de rotas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DDDDDD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Multi-dispositivo via GitHub Codespaces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457200" y="5426964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9A227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25" title="Brand_Video(1)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3925" y="304800"/>
            <a:ext cx="2196083" cy="219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2026-06-29T06:01:31Z</dcterms:created>
  <dc:creator>BLONDE Startup</dc:creator>
</cp:coreProperties>
</file>